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讲稿建议：
1. 先从统一公式讲起：P_A 是同一个点在坐标系 A 中的坐标，P_B 是它在坐标系 B 中的坐标。A2B 描述“坐标系 A 如何嵌入坐标系 B”。
2. 平移例子：R 等于单位矩阵，所以 A 的 x/y 轴方向与 B 相同；T 等于 (tx, ty)，表示 A 的原点 O_A 在 B 坐标系中的位置。点 (0,0,1) 经过矩阵后变成 (tx,ty,1)，这正好说明第三列的物理意义。
3. 旋转例子：T 为 0，所以原点不动；R 的第一列是旋转后的 A-x 轴方向，第二列是旋转后的 A-y 轴方向。点 P_A=(x_A,y_A) 实际上是在说“沿 A-x 走 x_A，再沿 A-y 走 y_A”，矩阵乘法就是把这两个方向向量线性组合，得到 B 坐标系中的 P_B。
4. 收束到 MVP/VP：三维里的模型变换和 View 变换也是同一件事，只是 R/T 从二维扩展到三维；Viewport 变换则是把投影后的规范坐标再放到屏幕窗口。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二维平移与旋转：变换矩阵的物理意义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核心问题：矩阵不是“算式黑盒”，它描述了坐标系 A 在坐标系 B 中的位置与方向。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292608"/>
            <a:ext cx="1664208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65792" y="6583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坐标表示   B 坐标表示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502920" y="1060704"/>
            <a:ext cx="11173968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1234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统一写法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143000"/>
            <a:ext cx="1965960" cy="62179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1298448"/>
            <a:ext cx="1920240" cy="310896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1225296"/>
            <a:ext cx="109728" cy="1097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24144" y="119786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：坐标系 A 的坐标轴在坐标系 B 中的方向</a:t>
            </a:r>
            <a:endParaRPr lang="en-US" sz="118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1563624"/>
            <a:ext cx="109728" cy="10972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724144" y="1536192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：坐标系 A 的原点</a:t>
            </a:r>
            <a:endParaRPr lang="en-US" sz="118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563624"/>
            <a:ext cx="201168" cy="1097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059168" y="153619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在坐标系 B 中的位置</a:t>
            </a:r>
            <a:endParaRPr lang="en-US" sz="1180" dirty="0"/>
          </a:p>
        </p:txBody>
      </p:sp>
      <p:sp>
        <p:nvSpPr>
          <p:cNvPr id="16" name="Text 8"/>
          <p:cNvSpPr/>
          <p:nvPr/>
        </p:nvSpPr>
        <p:spPr>
          <a:xfrm>
            <a:off x="8732520" y="1152144"/>
            <a:ext cx="2514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矩阵的列向量在回答两个问题：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新坐标轴指向哪里？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新原点被放在哪里？</a:t>
            </a:r>
            <a:endParaRPr lang="en-US" sz="1180" dirty="0"/>
          </a:p>
        </p:txBody>
      </p:sp>
      <p:sp>
        <p:nvSpPr>
          <p:cNvPr id="17" name="Shape 9"/>
          <p:cNvSpPr/>
          <p:nvPr/>
        </p:nvSpPr>
        <p:spPr>
          <a:xfrm>
            <a:off x="502920" y="2331720"/>
            <a:ext cx="546811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6217920" y="2331720"/>
            <a:ext cx="546811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502920" y="2331720"/>
            <a:ext cx="5468112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6217920" y="2331720"/>
            <a:ext cx="5468112" cy="420624"/>
          </a:xfrm>
          <a:prstGeom prst="rect">
            <a:avLst/>
          </a:prstGeom>
          <a:solidFill>
            <a:srgbClr val="FFE4E6"/>
          </a:solidFill>
          <a:ln w="12700">
            <a:solidFill>
              <a:srgbClr val="FDA4AF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749808" y="24323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 1：二维平移</a:t>
            </a:r>
            <a:endParaRPr lang="en-US" sz="14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7712" y="2432304"/>
            <a:ext cx="868680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464808" y="24323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 2：二维旋转</a:t>
            </a:r>
            <a:endParaRPr lang="en-US" sz="14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992" y="2432304"/>
            <a:ext cx="731520" cy="201168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2990088"/>
            <a:ext cx="1554480" cy="9144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2615184" y="289864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  <a:endParaRPr lang="en-US" sz="12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15184" y="3172968"/>
            <a:ext cx="310896" cy="11887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2953512" y="31638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：A 的坐标轴方向与 B 相同</a:t>
            </a:r>
            <a:endParaRPr lang="en-US" sz="108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15184" y="3419856"/>
            <a:ext cx="530352" cy="118872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3163824" y="341071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 A 的原点</a:t>
            </a:r>
            <a:endParaRPr lang="en-US" sz="105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50208" y="3419856"/>
            <a:ext cx="164592" cy="118872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4133088" y="341071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放到 B 坐标</a:t>
            </a:r>
            <a:endParaRPr lang="en-US" sz="105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1456" y="3419856"/>
            <a:ext cx="347472" cy="118872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2615184" y="3657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任意点都加同一个偏移量：</a:t>
            </a:r>
            <a:endParaRPr lang="en-US" sz="102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86200" y="3648456"/>
            <a:ext cx="1554480" cy="164592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>
            <a:off x="822960" y="4224528"/>
            <a:ext cx="214884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21"/>
          <p:cNvSpPr/>
          <p:nvPr/>
        </p:nvSpPr>
        <p:spPr>
          <a:xfrm>
            <a:off x="1428750" y="4370832"/>
            <a:ext cx="0" cy="1252728"/>
          </a:xfrm>
          <a:prstGeom prst="line">
            <a:avLst/>
          </a:prstGeom>
          <a:noFill/>
          <a:ln w="5715">
            <a:solidFill>
              <a:srgbClr val="CBD5E1"/>
            </a:solidFill>
            <a:prstDash val="solid"/>
            <a:tailEnd type="none"/>
          </a:ln>
        </p:spPr>
      </p:sp>
      <p:sp>
        <p:nvSpPr>
          <p:cNvPr id="38" name="Shape 22"/>
          <p:cNvSpPr/>
          <p:nvPr/>
        </p:nvSpPr>
        <p:spPr>
          <a:xfrm>
            <a:off x="960120" y="4684014"/>
            <a:ext cx="1874520" cy="0"/>
          </a:xfrm>
          <a:prstGeom prst="line">
            <a:avLst/>
          </a:prstGeom>
          <a:noFill/>
          <a:ln w="5715">
            <a:solidFill>
              <a:srgbClr val="CBD5E1"/>
            </a:solidFill>
            <a:prstDash val="solid"/>
            <a:tailEnd type="none"/>
          </a:ln>
        </p:spPr>
      </p:sp>
      <p:sp>
        <p:nvSpPr>
          <p:cNvPr id="39" name="Shape 23"/>
          <p:cNvSpPr/>
          <p:nvPr/>
        </p:nvSpPr>
        <p:spPr>
          <a:xfrm>
            <a:off x="1897380" y="4370832"/>
            <a:ext cx="0" cy="1252728"/>
          </a:xfrm>
          <a:prstGeom prst="line">
            <a:avLst/>
          </a:prstGeom>
          <a:noFill/>
          <a:ln w="5715">
            <a:solidFill>
              <a:srgbClr val="CBD5E1"/>
            </a:solidFill>
            <a:prstDash val="solid"/>
            <a:tailEnd type="none"/>
          </a:ln>
        </p:spPr>
      </p:sp>
      <p:sp>
        <p:nvSpPr>
          <p:cNvPr id="40" name="Shape 24"/>
          <p:cNvSpPr/>
          <p:nvPr/>
        </p:nvSpPr>
        <p:spPr>
          <a:xfrm>
            <a:off x="960120" y="4997196"/>
            <a:ext cx="1874520" cy="0"/>
          </a:xfrm>
          <a:prstGeom prst="line">
            <a:avLst/>
          </a:prstGeom>
          <a:noFill/>
          <a:ln w="5715">
            <a:solidFill>
              <a:srgbClr val="CBD5E1"/>
            </a:solidFill>
            <a:prstDash val="solid"/>
            <a:tailEnd type="none"/>
          </a:ln>
        </p:spPr>
      </p:sp>
      <p:sp>
        <p:nvSpPr>
          <p:cNvPr id="41" name="Shape 25"/>
          <p:cNvSpPr/>
          <p:nvPr/>
        </p:nvSpPr>
        <p:spPr>
          <a:xfrm>
            <a:off x="2366010" y="4370832"/>
            <a:ext cx="0" cy="1252728"/>
          </a:xfrm>
          <a:prstGeom prst="line">
            <a:avLst/>
          </a:prstGeom>
          <a:noFill/>
          <a:ln w="5715">
            <a:solidFill>
              <a:srgbClr val="CBD5E1"/>
            </a:solidFill>
            <a:prstDash val="solid"/>
            <a:tailEnd type="none"/>
          </a:ln>
        </p:spPr>
      </p:sp>
      <p:sp>
        <p:nvSpPr>
          <p:cNvPr id="42" name="Shape 26"/>
          <p:cNvSpPr/>
          <p:nvPr/>
        </p:nvSpPr>
        <p:spPr>
          <a:xfrm>
            <a:off x="960120" y="5310378"/>
            <a:ext cx="1874520" cy="0"/>
          </a:xfrm>
          <a:prstGeom prst="line">
            <a:avLst/>
          </a:prstGeom>
          <a:noFill/>
          <a:ln w="5715">
            <a:solidFill>
              <a:srgbClr val="CBD5E1"/>
            </a:solidFill>
            <a:prstDash val="solid"/>
            <a:tailEnd type="none"/>
          </a:ln>
        </p:spPr>
      </p:sp>
      <p:sp>
        <p:nvSpPr>
          <p:cNvPr id="43" name="Shape 27"/>
          <p:cNvSpPr/>
          <p:nvPr/>
        </p:nvSpPr>
        <p:spPr>
          <a:xfrm>
            <a:off x="1170432" y="5422392"/>
            <a:ext cx="1051560" cy="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44" name="Shape 28"/>
          <p:cNvSpPr/>
          <p:nvPr/>
        </p:nvSpPr>
        <p:spPr>
          <a:xfrm>
            <a:off x="1170432" y="5422392"/>
            <a:ext cx="0" cy="-1051560"/>
          </a:xfrm>
          <a:prstGeom prst="line">
            <a:avLst/>
          </a:prstGeom>
          <a:noFill/>
          <a:ln w="2159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45" name="Text 29"/>
          <p:cNvSpPr/>
          <p:nvPr/>
        </p:nvSpPr>
        <p:spPr>
          <a:xfrm>
            <a:off x="2240280" y="5312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Bx</a:t>
            </a:r>
            <a:endParaRPr lang="en-US" sz="1000" dirty="0"/>
          </a:p>
        </p:txBody>
      </p:sp>
      <p:sp>
        <p:nvSpPr>
          <p:cNvPr id="46" name="Text 30"/>
          <p:cNvSpPr/>
          <p:nvPr/>
        </p:nvSpPr>
        <p:spPr>
          <a:xfrm>
            <a:off x="1024128" y="4206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</a:t>
            </a:r>
            <a:endParaRPr lang="en-US" sz="1000" dirty="0"/>
          </a:p>
        </p:txBody>
      </p:sp>
      <p:sp>
        <p:nvSpPr>
          <p:cNvPr id="47" name="Shape 31"/>
          <p:cNvSpPr/>
          <p:nvPr/>
        </p:nvSpPr>
        <p:spPr>
          <a:xfrm>
            <a:off x="1129284" y="5381244"/>
            <a:ext cx="82296" cy="822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8" name="Text 32"/>
          <p:cNvSpPr/>
          <p:nvPr/>
        </p:nvSpPr>
        <p:spPr>
          <a:xfrm>
            <a:off x="859536" y="54498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50" dirty="0"/>
          </a:p>
        </p:txBody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536" y="5458968"/>
            <a:ext cx="201168" cy="118872"/>
          </a:xfrm>
          <a:prstGeom prst="rect">
            <a:avLst/>
          </a:prstGeom>
        </p:spPr>
      </p:pic>
      <p:sp>
        <p:nvSpPr>
          <p:cNvPr id="50" name="Shape 33"/>
          <p:cNvSpPr/>
          <p:nvPr/>
        </p:nvSpPr>
        <p:spPr>
          <a:xfrm>
            <a:off x="2304288" y="4626864"/>
            <a:ext cx="713232" cy="0"/>
          </a:xfrm>
          <a:prstGeom prst="line">
            <a:avLst/>
          </a:prstGeom>
          <a:noFill/>
          <a:ln w="2159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51" name="Shape 34"/>
          <p:cNvSpPr/>
          <p:nvPr/>
        </p:nvSpPr>
        <p:spPr>
          <a:xfrm>
            <a:off x="2304288" y="4626864"/>
            <a:ext cx="0" cy="-713232"/>
          </a:xfrm>
          <a:prstGeom prst="line">
            <a:avLst/>
          </a:prstGeom>
          <a:noFill/>
          <a:ln w="2159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52" name="Text 35"/>
          <p:cNvSpPr/>
          <p:nvPr/>
        </p:nvSpPr>
        <p:spPr>
          <a:xfrm>
            <a:off x="3035808" y="45171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</a:t>
            </a:r>
            <a:endParaRPr lang="en-US" sz="1000" dirty="0"/>
          </a:p>
        </p:txBody>
      </p:sp>
      <p:sp>
        <p:nvSpPr>
          <p:cNvPr id="53" name="Text 36"/>
          <p:cNvSpPr/>
          <p:nvPr/>
        </p:nvSpPr>
        <p:spPr>
          <a:xfrm>
            <a:off x="2157984" y="37490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Ay</a:t>
            </a:r>
            <a:endParaRPr lang="en-US" sz="1000" dirty="0"/>
          </a:p>
        </p:txBody>
      </p:sp>
      <p:sp>
        <p:nvSpPr>
          <p:cNvPr id="54" name="Shape 37"/>
          <p:cNvSpPr/>
          <p:nvPr/>
        </p:nvSpPr>
        <p:spPr>
          <a:xfrm>
            <a:off x="2263140" y="458571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5" name="Text 38"/>
          <p:cNvSpPr/>
          <p:nvPr/>
        </p:nvSpPr>
        <p:spPr>
          <a:xfrm>
            <a:off x="2359152" y="44074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50" dirty="0"/>
          </a:p>
        </p:txBody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31720" y="4425696"/>
            <a:ext cx="658368" cy="146304"/>
          </a:xfrm>
          <a:prstGeom prst="rect">
            <a:avLst/>
          </a:prstGeom>
        </p:spPr>
      </p:pic>
      <p:sp>
        <p:nvSpPr>
          <p:cNvPr id="57" name="Shape 39"/>
          <p:cNvSpPr/>
          <p:nvPr/>
        </p:nvSpPr>
        <p:spPr>
          <a:xfrm>
            <a:off x="1234440" y="5358384"/>
            <a:ext cx="969264" cy="-630936"/>
          </a:xfrm>
          <a:prstGeom prst="line">
            <a:avLst/>
          </a:prstGeom>
          <a:noFill/>
          <a:ln w="16510">
            <a:solidFill>
              <a:srgbClr val="B45309"/>
            </a:solidFill>
            <a:prstDash val="solid"/>
            <a:tailEnd type="triangle"/>
          </a:ln>
        </p:spPr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73352" y="4901184"/>
            <a:ext cx="164592" cy="137160"/>
          </a:xfrm>
          <a:prstGeom prst="rect">
            <a:avLst/>
          </a:prstGeom>
        </p:spPr>
      </p:pic>
      <p:sp>
        <p:nvSpPr>
          <p:cNvPr id="59" name="Shape 40"/>
          <p:cNvSpPr/>
          <p:nvPr/>
        </p:nvSpPr>
        <p:spPr>
          <a:xfrm>
            <a:off x="3273552" y="4224528"/>
            <a:ext cx="2240280" cy="157276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0" name="Text 41"/>
          <p:cNvSpPr/>
          <p:nvPr/>
        </p:nvSpPr>
        <p:spPr>
          <a:xfrm>
            <a:off x="3456432" y="43982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坐标转化的例子</a:t>
            </a:r>
            <a:endParaRPr lang="en-US" sz="1200" dirty="0"/>
          </a:p>
        </p:txBody>
      </p:sp>
      <p:pic>
        <p:nvPicPr>
          <p:cNvPr id="6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83280" y="4535424"/>
            <a:ext cx="1874520" cy="987552"/>
          </a:xfrm>
          <a:prstGeom prst="rect">
            <a:avLst/>
          </a:prstGeom>
        </p:spPr>
      </p:pic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46520" y="2944368"/>
            <a:ext cx="2139696" cy="1005840"/>
          </a:xfrm>
          <a:prstGeom prst="rect">
            <a:avLst/>
          </a:prstGeom>
        </p:spPr>
      </p:pic>
      <p:sp>
        <p:nvSpPr>
          <p:cNvPr id="63" name="Text 42"/>
          <p:cNvSpPr/>
          <p:nvPr/>
        </p:nvSpPr>
        <p:spPr>
          <a:xfrm>
            <a:off x="8778240" y="2898648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列向量就是旋转后的基底</a:t>
            </a:r>
            <a:endParaRPr lang="en-US" sz="1250" dirty="0"/>
          </a:p>
        </p:txBody>
      </p:sp>
      <p:sp>
        <p:nvSpPr>
          <p:cNvPr id="64" name="Text 43"/>
          <p:cNvSpPr/>
          <p:nvPr/>
        </p:nvSpPr>
        <p:spPr>
          <a:xfrm>
            <a:off x="8778240" y="31546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列</a:t>
            </a:r>
            <a:endParaRPr lang="en-US" sz="1040" dirty="0"/>
          </a:p>
        </p:txBody>
      </p:sp>
      <p:pic>
        <p:nvPicPr>
          <p:cNvPr id="6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17152" y="3154680"/>
            <a:ext cx="621792" cy="137160"/>
          </a:xfrm>
          <a:prstGeom prst="rect">
            <a:avLst/>
          </a:prstGeom>
        </p:spPr>
      </p:pic>
      <p:sp>
        <p:nvSpPr>
          <p:cNvPr id="66" name="Text 44"/>
          <p:cNvSpPr/>
          <p:nvPr/>
        </p:nvSpPr>
        <p:spPr>
          <a:xfrm>
            <a:off x="1005840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：A 的 x 轴在 B 中的方向</a:t>
            </a:r>
            <a:endParaRPr lang="en-US" sz="1030" dirty="0"/>
          </a:p>
        </p:txBody>
      </p:sp>
      <p:sp>
        <p:nvSpPr>
          <p:cNvPr id="67" name="Text 45"/>
          <p:cNvSpPr/>
          <p:nvPr/>
        </p:nvSpPr>
        <p:spPr>
          <a:xfrm>
            <a:off x="8778240" y="3511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列</a:t>
            </a:r>
            <a:endParaRPr lang="en-US" sz="1040" dirty="0"/>
          </a:p>
        </p:txBody>
      </p:sp>
      <p:pic>
        <p:nvPicPr>
          <p:cNvPr id="6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17152" y="3511296"/>
            <a:ext cx="621792" cy="137160"/>
          </a:xfrm>
          <a:prstGeom prst="rect">
            <a:avLst/>
          </a:prstGeom>
        </p:spPr>
      </p:pic>
      <p:sp>
        <p:nvSpPr>
          <p:cNvPr id="69" name="Text 46"/>
          <p:cNvSpPr/>
          <p:nvPr/>
        </p:nvSpPr>
        <p:spPr>
          <a:xfrm>
            <a:off x="10058400" y="35112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：A 的 y 轴在 B 中的方向</a:t>
            </a:r>
            <a:endParaRPr lang="en-US" sz="1030" dirty="0"/>
          </a:p>
        </p:txBody>
      </p:sp>
      <p:pic>
        <p:nvPicPr>
          <p:cNvPr id="7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78240" y="3886200"/>
            <a:ext cx="292608" cy="118872"/>
          </a:xfrm>
          <a:prstGeom prst="rect">
            <a:avLst/>
          </a:prstGeom>
        </p:spPr>
      </p:pic>
      <p:sp>
        <p:nvSpPr>
          <p:cNvPr id="71" name="Text 47"/>
          <p:cNvSpPr/>
          <p:nvPr/>
        </p:nvSpPr>
        <p:spPr>
          <a:xfrm>
            <a:off x="9189720" y="38770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：只改变方向，不移动原点</a:t>
            </a:r>
            <a:endParaRPr lang="en-US" sz="1040" dirty="0"/>
          </a:p>
        </p:txBody>
      </p:sp>
      <p:sp>
        <p:nvSpPr>
          <p:cNvPr id="72" name="Shape 48"/>
          <p:cNvSpPr/>
          <p:nvPr/>
        </p:nvSpPr>
        <p:spPr>
          <a:xfrm>
            <a:off x="6537960" y="4224528"/>
            <a:ext cx="214884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49"/>
          <p:cNvSpPr/>
          <p:nvPr/>
        </p:nvSpPr>
        <p:spPr>
          <a:xfrm>
            <a:off x="7148322" y="4370832"/>
            <a:ext cx="0" cy="1252728"/>
          </a:xfrm>
          <a:prstGeom prst="line">
            <a:avLst/>
          </a:prstGeom>
          <a:noFill/>
          <a:ln w="5715">
            <a:solidFill>
              <a:srgbClr val="CBD5E1"/>
            </a:solidFill>
            <a:prstDash val="solid"/>
            <a:tailEnd type="none"/>
          </a:ln>
        </p:spPr>
      </p:sp>
      <p:sp>
        <p:nvSpPr>
          <p:cNvPr id="74" name="Shape 50"/>
          <p:cNvSpPr/>
          <p:nvPr/>
        </p:nvSpPr>
        <p:spPr>
          <a:xfrm>
            <a:off x="6684264" y="4684014"/>
            <a:ext cx="1856232" cy="0"/>
          </a:xfrm>
          <a:prstGeom prst="line">
            <a:avLst/>
          </a:prstGeom>
          <a:noFill/>
          <a:ln w="5715">
            <a:solidFill>
              <a:srgbClr val="CBD5E1"/>
            </a:solidFill>
            <a:prstDash val="solid"/>
            <a:tailEnd type="none"/>
          </a:ln>
        </p:spPr>
      </p:sp>
      <p:sp>
        <p:nvSpPr>
          <p:cNvPr id="75" name="Shape 51"/>
          <p:cNvSpPr/>
          <p:nvPr/>
        </p:nvSpPr>
        <p:spPr>
          <a:xfrm>
            <a:off x="7612380" y="4370832"/>
            <a:ext cx="0" cy="1252728"/>
          </a:xfrm>
          <a:prstGeom prst="line">
            <a:avLst/>
          </a:prstGeom>
          <a:noFill/>
          <a:ln w="5715">
            <a:solidFill>
              <a:srgbClr val="CBD5E1"/>
            </a:solidFill>
            <a:prstDash val="solid"/>
            <a:tailEnd type="none"/>
          </a:ln>
        </p:spPr>
      </p:sp>
      <p:sp>
        <p:nvSpPr>
          <p:cNvPr id="76" name="Shape 52"/>
          <p:cNvSpPr/>
          <p:nvPr/>
        </p:nvSpPr>
        <p:spPr>
          <a:xfrm>
            <a:off x="6684264" y="4997196"/>
            <a:ext cx="1856232" cy="0"/>
          </a:xfrm>
          <a:prstGeom prst="line">
            <a:avLst/>
          </a:prstGeom>
          <a:noFill/>
          <a:ln w="5715">
            <a:solidFill>
              <a:srgbClr val="CBD5E1"/>
            </a:solidFill>
            <a:prstDash val="solid"/>
            <a:tailEnd type="none"/>
          </a:ln>
        </p:spPr>
      </p:sp>
      <p:sp>
        <p:nvSpPr>
          <p:cNvPr id="77" name="Shape 53"/>
          <p:cNvSpPr/>
          <p:nvPr/>
        </p:nvSpPr>
        <p:spPr>
          <a:xfrm>
            <a:off x="8076438" y="4370832"/>
            <a:ext cx="0" cy="1252728"/>
          </a:xfrm>
          <a:prstGeom prst="line">
            <a:avLst/>
          </a:prstGeom>
          <a:noFill/>
          <a:ln w="5715">
            <a:solidFill>
              <a:srgbClr val="CBD5E1"/>
            </a:solidFill>
            <a:prstDash val="solid"/>
            <a:tailEnd type="none"/>
          </a:ln>
        </p:spPr>
      </p:sp>
      <p:sp>
        <p:nvSpPr>
          <p:cNvPr id="78" name="Shape 54"/>
          <p:cNvSpPr/>
          <p:nvPr/>
        </p:nvSpPr>
        <p:spPr>
          <a:xfrm>
            <a:off x="6684264" y="5310378"/>
            <a:ext cx="1856232" cy="0"/>
          </a:xfrm>
          <a:prstGeom prst="line">
            <a:avLst/>
          </a:prstGeom>
          <a:noFill/>
          <a:ln w="5715">
            <a:solidFill>
              <a:srgbClr val="CBD5E1"/>
            </a:solidFill>
            <a:prstDash val="solid"/>
            <a:tailEnd type="none"/>
          </a:ln>
        </p:spPr>
      </p:sp>
      <p:sp>
        <p:nvSpPr>
          <p:cNvPr id="79" name="Shape 55"/>
          <p:cNvSpPr/>
          <p:nvPr/>
        </p:nvSpPr>
        <p:spPr>
          <a:xfrm>
            <a:off x="7360920" y="5358384"/>
            <a:ext cx="932688" cy="0"/>
          </a:xfrm>
          <a:prstGeom prst="line">
            <a:avLst/>
          </a:prstGeom>
          <a:noFill/>
          <a:ln w="1778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80" name="Shape 56"/>
          <p:cNvSpPr/>
          <p:nvPr/>
        </p:nvSpPr>
        <p:spPr>
          <a:xfrm>
            <a:off x="7360920" y="5358384"/>
            <a:ext cx="0" cy="-932688"/>
          </a:xfrm>
          <a:prstGeom prst="line">
            <a:avLst/>
          </a:prstGeom>
          <a:noFill/>
          <a:ln w="1778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81" name="Text 57"/>
          <p:cNvSpPr/>
          <p:nvPr/>
        </p:nvSpPr>
        <p:spPr>
          <a:xfrm>
            <a:off x="8311896" y="52486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Bx</a:t>
            </a:r>
            <a:endParaRPr lang="en-US" sz="1000" dirty="0"/>
          </a:p>
        </p:txBody>
      </p:sp>
      <p:sp>
        <p:nvSpPr>
          <p:cNvPr id="82" name="Text 58"/>
          <p:cNvSpPr/>
          <p:nvPr/>
        </p:nvSpPr>
        <p:spPr>
          <a:xfrm>
            <a:off x="7214616" y="42611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</a:t>
            </a:r>
            <a:endParaRPr lang="en-US" sz="1000" dirty="0"/>
          </a:p>
        </p:txBody>
      </p:sp>
      <p:sp>
        <p:nvSpPr>
          <p:cNvPr id="83" name="Shape 59"/>
          <p:cNvSpPr/>
          <p:nvPr/>
        </p:nvSpPr>
        <p:spPr>
          <a:xfrm>
            <a:off x="7360920" y="5358384"/>
            <a:ext cx="659510" cy="-659510"/>
          </a:xfrm>
          <a:prstGeom prst="line">
            <a:avLst/>
          </a:prstGeom>
          <a:noFill/>
          <a:ln w="2159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84" name="Shape 60"/>
          <p:cNvSpPr/>
          <p:nvPr/>
        </p:nvSpPr>
        <p:spPr>
          <a:xfrm>
            <a:off x="7360920" y="5358384"/>
            <a:ext cx="-659510" cy="-659510"/>
          </a:xfrm>
          <a:prstGeom prst="line">
            <a:avLst/>
          </a:prstGeom>
          <a:noFill/>
          <a:ln w="2159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85" name="Text 61"/>
          <p:cNvSpPr/>
          <p:nvPr/>
        </p:nvSpPr>
        <p:spPr>
          <a:xfrm>
            <a:off x="8038718" y="458914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</a:t>
            </a:r>
            <a:endParaRPr lang="en-US" sz="1000" dirty="0"/>
          </a:p>
        </p:txBody>
      </p:sp>
      <p:sp>
        <p:nvSpPr>
          <p:cNvPr id="86" name="Text 62"/>
          <p:cNvSpPr/>
          <p:nvPr/>
        </p:nvSpPr>
        <p:spPr>
          <a:xfrm>
            <a:off x="6555106" y="453428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Ay</a:t>
            </a:r>
            <a:endParaRPr lang="en-US" sz="1000" dirty="0"/>
          </a:p>
        </p:txBody>
      </p:sp>
      <p:sp>
        <p:nvSpPr>
          <p:cNvPr id="87" name="Shape 63"/>
          <p:cNvSpPr/>
          <p:nvPr/>
        </p:nvSpPr>
        <p:spPr>
          <a:xfrm>
            <a:off x="7319772" y="5317236"/>
            <a:ext cx="82296" cy="822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8" name="Text 64"/>
          <p:cNvSpPr/>
          <p:nvPr/>
        </p:nvSpPr>
        <p:spPr>
          <a:xfrm>
            <a:off x="7159752" y="53949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</a:t>
            </a:r>
            <a:endParaRPr lang="en-US" sz="1050" dirty="0"/>
          </a:p>
        </p:txBody>
      </p:sp>
      <p:sp>
        <p:nvSpPr>
          <p:cNvPr id="89" name="Shape 65"/>
          <p:cNvSpPr/>
          <p:nvPr/>
        </p:nvSpPr>
        <p:spPr>
          <a:xfrm>
            <a:off x="7616952" y="4828032"/>
            <a:ext cx="566928" cy="566928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B45309"/>
            </a:solidFill>
            <a:prstDash val="solid"/>
          </a:ln>
        </p:spPr>
      </p:sp>
      <p:pic>
        <p:nvPicPr>
          <p:cNvPr id="9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28432" y="4864608"/>
            <a:ext cx="146304" cy="128016"/>
          </a:xfrm>
          <a:prstGeom prst="rect">
            <a:avLst/>
          </a:prstGeom>
        </p:spPr>
      </p:pic>
      <p:sp>
        <p:nvSpPr>
          <p:cNvPr id="91" name="Shape 66"/>
          <p:cNvSpPr/>
          <p:nvPr/>
        </p:nvSpPr>
        <p:spPr>
          <a:xfrm>
            <a:off x="8979408" y="4224528"/>
            <a:ext cx="2240280" cy="1572768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2" name="Text 67"/>
          <p:cNvSpPr/>
          <p:nvPr/>
        </p:nvSpPr>
        <p:spPr>
          <a:xfrm>
            <a:off x="9162288" y="43982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坐标转化的例子</a:t>
            </a:r>
            <a:endParaRPr lang="en-US" sz="1200" dirty="0"/>
          </a:p>
        </p:txBody>
      </p:sp>
      <p:pic>
        <p:nvPicPr>
          <p:cNvPr id="9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70848" y="4535424"/>
            <a:ext cx="1828800" cy="987552"/>
          </a:xfrm>
          <a:prstGeom prst="rect">
            <a:avLst/>
          </a:prstGeom>
        </p:spPr>
      </p:pic>
      <p:sp>
        <p:nvSpPr>
          <p:cNvPr id="94" name="Shape 68"/>
          <p:cNvSpPr/>
          <p:nvPr/>
        </p:nvSpPr>
        <p:spPr>
          <a:xfrm>
            <a:off x="502920" y="6483096"/>
            <a:ext cx="11173968" cy="228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5" name="Text 69"/>
          <p:cNvSpPr/>
          <p:nvPr/>
        </p:nvSpPr>
        <p:spPr>
          <a:xfrm>
            <a:off x="658368" y="6519672"/>
            <a:ext cx="9784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一句话总结：A2B 的 R 负责“朝向”，T 负责“位置”；齐次坐标把二者统一到一个矩阵乘法里。</a:t>
            </a:r>
            <a:endParaRPr lang="en-US" sz="970" dirty="0"/>
          </a:p>
        </p:txBody>
      </p:sp>
      <p:sp>
        <p:nvSpPr>
          <p:cNvPr id="96" name="Text 70"/>
          <p:cNvSpPr/>
          <p:nvPr/>
        </p:nvSpPr>
        <p:spPr>
          <a:xfrm>
            <a:off x="10936224" y="6519672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MVP_VP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二维平移与旋转：变换矩阵的物理意义</dc:title>
  <dc:subject>MVP_VP coordinate transforms</dc:subject>
  <dc:creator>Codex</dc:creator>
  <cp:lastModifiedBy>Codex</cp:lastModifiedBy>
  <cp:revision>1</cp:revision>
  <dcterms:created xsi:type="dcterms:W3CDTF">2026-04-17T23:55:21Z</dcterms:created>
  <dcterms:modified xsi:type="dcterms:W3CDTF">2026-04-17T23:55:21Z</dcterms:modified>
</cp:coreProperties>
</file>