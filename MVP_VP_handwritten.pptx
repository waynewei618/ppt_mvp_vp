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开场讲稿：
这份讲稿从坐标系变换讲起。MVP 和 Viewport 本质上不是一堆孤立公式，而是一条坐标表达的流水线：局部坐标先被放到世界坐标，再从相机角度观察，再投影到标准立方体，最后映射到屏幕像素。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先建立最重要的观念：坐标变换不是移动点本身，而是用另一个坐标系表达同一个点。L2W 表示 local to world。R 的三列告诉我们 local 坐标系的三个轴在 world 中指向哪里，T 告诉我们 local 原点在 world 中放在哪里。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这里对应手稿第一页的三个例子。平移时 R 是单位阵，T 直接决定原点位置。旋转时 T 为 0，R 的列向量体现新坐标轴方向。组合时可以理解为先在局部坐标系中旋转，再把整个坐标系平移到世界坐标中。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手稿第二页先讨论 W2L。由于旋转矩阵是正交矩阵，所以 R 的逆等于 R 的转置。逆变换的直觉是：先把世界坐标点减掉局部坐标系原点 T，再用 R 的转置把这个向量投影到局部坐标轴上。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M 是模型矩阵，把模型自己的局部坐标放到世界里。相机本身也可以看成一个坐标系，它在世界里有 C2W。但渲染时我们要把世界点表达为相机坐标，所以 View 矩阵等于 C2W 的逆。最终模型到相机就是 V 乘 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透视投影最重要的是相似三角形。设 near 平面距离为 n，空间点深度为 z，那么投影到 near 平面时，x 和 y 都乘以 n/z。矩阵本身不能直接做除法，所以先把 w 分量构造成 z，再靠透视除法完成除以 z。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透视矩阵可以分成两块讲。前两行负责把视锥的左右上下范围归一化。第四行负责制造 w 等于 z。第三行负责处理深度，因为深度也要被映射到规范范围中，才能用于裁剪和深度测试。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投影之后得到的是 NDC，范围通常是 -1 到 1。Viewport 变换做的是尺度和平移：把 -1 到 1 的区间缩放到屏幕宽高，再平移到屏幕坐标原点附近。不同系统的屏幕 y 轴方向可能不同，所以实际矩阵可能在 y 上有负号。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最后把所有内容串起来。M、V、P、VP 都是在改变坐标表达。M 从局部到世界，V 从世界到相机，P 从相机到裁剪空间和 NDC，VP 从 NDC 到屏幕。只要每一步都问清楚“当前坐标系是什么、下一步坐标系是什么”，公式就不会混乱。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收尾讲稿：
总结时强调：MVP 和 Viewport 的难点不在矩阵符号，而在坐标系关系。看到矩阵先问 R 和 T 在描述哪个坐标系，再问点从哪个坐标表达变到哪个坐标表达。这样就能把模型、相机、投影和屏幕映射统一起来。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svg"/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2179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DA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计算机图形学中的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1024128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 与 Viewport 变换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1847088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4DE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从“坐标系如何放置”到“像素最终落在哪里”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77240" y="2659471"/>
            <a:ext cx="5303520" cy="3411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658368"/>
            <a:ext cx="4526280" cy="5349240"/>
          </a:xfrm>
          <a:prstGeom prst="roundRect">
            <a:avLst>
              <a:gd name="adj" fmla="val 161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16368" y="5138928"/>
            <a:ext cx="1143000" cy="0"/>
          </a:xfrm>
          <a:prstGeom prst="line">
            <a:avLst/>
          </a:prstGeom>
          <a:noFill/>
          <a:ln w="2032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516368" y="3995928"/>
            <a:ext cx="0" cy="1143000"/>
          </a:xfrm>
          <a:prstGeom prst="line">
            <a:avLst/>
          </a:prstGeom>
          <a:noFill/>
          <a:ln w="2032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8677656" y="501091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CA3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Wx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70064" y="384962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CA3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67344" y="3741496"/>
            <a:ext cx="839662" cy="446456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020888" y="3348290"/>
            <a:ext cx="446456" cy="839662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325294" y="361348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Lx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74584" y="320198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710928" y="2971800"/>
            <a:ext cx="841248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710928" y="2130552"/>
            <a:ext cx="0" cy="841248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10570464" y="284378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Cx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564624" y="198424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Cy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235440" y="1225296"/>
            <a:ext cx="13258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08592" y="1536192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CFE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Viewport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823960" y="3182112"/>
            <a:ext cx="621792" cy="658368"/>
          </a:xfrm>
          <a:prstGeom prst="line">
            <a:avLst/>
          </a:prstGeom>
          <a:noFill/>
          <a:ln w="17780">
            <a:solidFill>
              <a:srgbClr val="A8DADC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820656" y="2121408"/>
            <a:ext cx="27432" cy="530352"/>
          </a:xfrm>
          <a:prstGeom prst="line">
            <a:avLst/>
          </a:prstGeom>
          <a:noFill/>
          <a:ln w="1778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7863840" y="537667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2D3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Model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15400" y="365760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View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948672" y="23042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43F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01 / 坐标基础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坐标变换的核心：换一种坐标系描述同一个点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5138928"/>
            <a:ext cx="1417320" cy="0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81328" y="3721608"/>
            <a:ext cx="0" cy="1417320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16936" y="501091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35024" y="357530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70048" y="4069080"/>
            <a:ext cx="1234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70048" y="2834640"/>
            <a:ext cx="0" cy="123444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922776" y="394106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23744" y="268833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54480" y="4224528"/>
            <a:ext cx="914400" cy="804672"/>
          </a:xfrm>
          <a:prstGeom prst="line">
            <a:avLst/>
          </a:prstGeom>
          <a:noFill/>
          <a:ln w="17780">
            <a:solidFill>
              <a:srgbClr val="B36B0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651760" y="3200400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同一个几何点 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07792" y="3529584"/>
            <a:ext cx="128016" cy="128016"/>
          </a:xfrm>
          <a:prstGeom prst="ellipse">
            <a:avLst/>
          </a:prstGeom>
          <a:solidFill>
            <a:srgbClr val="B4233A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564184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坐标值会变，几何点不变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463040"/>
            <a:ext cx="6629400" cy="1051560"/>
          </a:xfrm>
          <a:prstGeom prst="roundRect">
            <a:avLst>
              <a:gd name="adj" fmla="val 6957"/>
            </a:avLst>
          </a:prstGeom>
          <a:solidFill>
            <a:srgbClr val="D7F4FA"/>
          </a:solidFill>
          <a:ln w="12700">
            <a:solidFill>
              <a:srgbClr val="99E6F2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6358397" y="1700784"/>
            <a:ext cx="2590262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02352" y="22128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L2W 的物理含义：把 L 坐标系放进 W 坐标系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800600" y="2834640"/>
            <a:ext cx="305409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6759" y="3154680"/>
            <a:ext cx="1789715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02352" y="3611880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R 的列向量分别是 L 的 x、y、z 轴在 W 中的方向向量。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257032" y="2834640"/>
            <a:ext cx="305409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2799" y="3154680"/>
            <a:ext cx="798979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13648" y="3611880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T 是 L 的原点在 W 坐标系中的位置。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800600" y="4434840"/>
            <a:ext cx="6629400" cy="1024128"/>
          </a:xfrm>
          <a:prstGeom prst="roundRect">
            <a:avLst>
              <a:gd name="adj" fmla="val 7143"/>
            </a:avLst>
          </a:prstGeom>
          <a:solidFill>
            <a:srgbClr val="FFF0CC"/>
          </a:solidFill>
          <a:ln w="12700">
            <a:solidFill>
              <a:srgbClr val="F5C36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102352" y="4791456"/>
            <a:ext cx="583387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读矩阵时先读列：方向、方向、方向、位置。齐次坐标只是把旋转和平移合成一次矩阵乘法。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02 / Local 到 World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L2W：平移、旋转，以及“先旋转再平移”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63624"/>
            <a:ext cx="3236976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只平移：原点改变，轴方向不变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841248" y="2072081"/>
            <a:ext cx="3163824" cy="5924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944368"/>
            <a:ext cx="316382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T=(2,3) 表示 L 的原点位于 W 的 (2,3)。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62272" y="14173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26864" y="1563624"/>
            <a:ext cx="3236976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只旋转：原点不动，基向量改变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3440" y="1942379"/>
            <a:ext cx="3163824" cy="8518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944368"/>
            <a:ext cx="316382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第一列是 L 的 x 轴方向，第二列是 L 的 y 轴方向。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75320" y="141732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5B43A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39912" y="1563624"/>
            <a:ext cx="2642616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旋转 + 平移：把坐标系整体放到世界中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6488" y="2112886"/>
            <a:ext cx="2569464" cy="5108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6488" y="2944368"/>
            <a:ext cx="256946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矩阵乘法顺序对应操作顺序。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822192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17320" y="5532120"/>
            <a:ext cx="1115568" cy="0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1417320" y="4416552"/>
            <a:ext cx="0" cy="1115568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2551176" y="540410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Wx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271016" y="427024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Wy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035808" y="3950208"/>
            <a:ext cx="791894" cy="457200"/>
          </a:xfrm>
          <a:prstGeom prst="line">
            <a:avLst/>
          </a:prstGeom>
          <a:noFill/>
          <a:ln w="20320">
            <a:solidFill>
              <a:srgbClr val="5B43A6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2578608" y="3615514"/>
            <a:ext cx="457200" cy="791894"/>
          </a:xfrm>
          <a:prstGeom prst="line">
            <a:avLst/>
          </a:prstGeom>
          <a:noFill/>
          <a:ln w="20320">
            <a:solidFill>
              <a:srgbClr val="5B43A6"/>
            </a:solidFill>
            <a:prstDash val="solid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3845990" y="382219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Lx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432304" y="346921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1499616" y="4590288"/>
            <a:ext cx="1335024" cy="841248"/>
          </a:xfrm>
          <a:prstGeom prst="line">
            <a:avLst/>
          </a:prstGeom>
          <a:noFill/>
          <a:ln w="17780">
            <a:solidFill>
              <a:srgbClr val="B36B00"/>
            </a:solidFill>
            <a:prstDash val="solid"/>
            <a:tailEnd type="triangle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2271" y="4754880"/>
            <a:ext cx="701195" cy="164592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0125" y="4846320"/>
            <a:ext cx="658999" cy="16459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715000" y="3822192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DDF8E8"/>
          </a:solidFill>
          <a:ln w="12700">
            <a:solidFill>
              <a:srgbClr val="A7E8C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989320" y="415137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矩阵列的快速检查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053328" y="4553712"/>
            <a:ext cx="4251960" cy="8412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第 1 列：局部 x 轴在世界中的方向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第 2 列：局部 y 轴在世界中的方向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最后 1 列：局部原点在世界中的位置</a:t>
            </a:r>
            <a:endParaRPr lang="en-US" sz="1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4928" y="5564888"/>
            <a:ext cx="2011680" cy="245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B4233A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03 / 逆变换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W2L：世界坐标回到局部坐标，就是 L2W 的逆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448056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5303520"/>
            <a:ext cx="1417320" cy="0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63040" y="3886200"/>
            <a:ext cx="0" cy="1417320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98648" y="517550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16736" y="373989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16352" y="3608418"/>
            <a:ext cx="1089946" cy="579534"/>
          </a:xfrm>
          <a:prstGeom prst="line">
            <a:avLst/>
          </a:prstGeom>
          <a:noFill/>
          <a:ln w="20320">
            <a:solidFill>
              <a:srgbClr val="B423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36818" y="3098006"/>
            <a:ext cx="579534" cy="1089946"/>
          </a:xfrm>
          <a:prstGeom prst="line">
            <a:avLst/>
          </a:prstGeom>
          <a:noFill/>
          <a:ln w="20320">
            <a:solidFill>
              <a:srgbClr val="B4233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924586" y="348040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90514" y="295170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38144" y="3218688"/>
            <a:ext cx="128016" cy="128016"/>
          </a:xfrm>
          <a:prstGeom prst="ellipse">
            <a:avLst/>
          </a:prstGeom>
          <a:solidFill>
            <a:srgbClr val="5B43A6"/>
          </a:solidFill>
          <a:ln w="12700">
            <a:solidFill>
              <a:srgbClr val="5B4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312724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72768" y="4379976"/>
            <a:ext cx="1042416" cy="804672"/>
          </a:xfrm>
          <a:prstGeom prst="line">
            <a:avLst/>
          </a:prstGeom>
          <a:noFill/>
          <a:ln w="15240">
            <a:solidFill>
              <a:srgbClr val="B36B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34640" y="3410712"/>
            <a:ext cx="475488" cy="685800"/>
          </a:xfrm>
          <a:prstGeom prst="line">
            <a:avLst/>
          </a:prstGeom>
          <a:noFill/>
          <a:ln w="15240">
            <a:solidFill>
              <a:srgbClr val="5B43A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43000" y="5669280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先减去原点，再投影到 L 的轴上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1536192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E2E8"/>
          </a:solidFill>
          <a:ln w="12700">
            <a:solidFill>
              <a:srgbClr val="FF9DAF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6478115" y="1810512"/>
            <a:ext cx="2780594" cy="47548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0" y="306324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25312" y="3364992"/>
            <a:ext cx="310896" cy="310896"/>
          </a:xfrm>
          <a:prstGeom prst="ellipse">
            <a:avLst/>
          </a:prstGeom>
          <a:solidFill>
            <a:srgbClr val="B36B00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3415284"/>
            <a:ext cx="310896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27648" y="3383280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先平移</a:t>
            </a:r>
            <a:endParaRPr lang="en-US" sz="13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573" y="3794760"/>
            <a:ext cx="731111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980176" y="4096512"/>
            <a:ext cx="168249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以 L 的原点为新参考点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613648" y="306324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869680" y="3364992"/>
            <a:ext cx="310896" cy="310896"/>
          </a:xfrm>
          <a:prstGeom prst="ellipse">
            <a:avLst/>
          </a:prstGeom>
          <a:solidFill>
            <a:srgbClr val="B4233A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869680" y="3415284"/>
            <a:ext cx="310896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272016" y="3383280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再旋转</a:t>
            </a:r>
            <a:endParaRPr lang="en-US" sz="13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9894" y="3794760"/>
            <a:ext cx="882652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924544" y="4096512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投影到 L 的基向量上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669280" y="4892040"/>
            <a:ext cx="5440680" cy="804672"/>
          </a:xfrm>
          <a:prstGeom prst="roundRect">
            <a:avLst>
              <a:gd name="adj" fmla="val 9091"/>
            </a:avLst>
          </a:prstGeom>
          <a:solidFill>
            <a:srgbClr val="ECE8FF"/>
          </a:solidFill>
          <a:ln w="12700">
            <a:solidFill>
              <a:srgbClr val="C6B8F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912" y="5138928"/>
            <a:ext cx="31630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5B43A6"/>
          </a:solidFill>
          <a:ln w="12700">
            <a:solidFill>
              <a:srgbClr val="5B43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04 / Model 与 View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 与 V：物体放入世界，再从相机观察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863072" cy="960120"/>
          </a:xfrm>
          <a:prstGeom prst="roundRect">
            <a:avLst>
              <a:gd name="adj" fmla="val 7619"/>
            </a:avLst>
          </a:prstGeom>
          <a:solidFill>
            <a:srgbClr val="ECE8FF"/>
          </a:solidFill>
          <a:ln w="12700">
            <a:solidFill>
              <a:srgbClr val="C6B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371600" y="1747655"/>
            <a:ext cx="7223760" cy="2720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24290" y="1764665"/>
            <a:ext cx="241236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 是 L2W，V 是 C2W 的逆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4672" y="2788920"/>
            <a:ext cx="3063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08176" y="4319426"/>
            <a:ext cx="1019122" cy="453742"/>
          </a:xfrm>
          <a:prstGeom prst="line">
            <a:avLst/>
          </a:prstGeom>
          <a:noFill/>
          <a:ln w="2032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54434" y="3754046"/>
            <a:ext cx="453742" cy="1019122"/>
          </a:xfrm>
          <a:prstGeom prst="line">
            <a:avLst/>
          </a:prstGeom>
          <a:noFill/>
          <a:ln w="2032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445586" y="419141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Lx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8130" y="360774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78992" y="301752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局部坐标 L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22066" y="3429000"/>
            <a:ext cx="641100" cy="7498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041648" y="3886200"/>
            <a:ext cx="1188720" cy="0"/>
          </a:xfrm>
          <a:prstGeom prst="line">
            <a:avLst/>
          </a:prstGeom>
          <a:noFill/>
          <a:ln w="22860">
            <a:solidFill>
              <a:srgbClr val="5B43A6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4517136" y="3584448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413248" y="2788920"/>
            <a:ext cx="3063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53328" y="4773168"/>
            <a:ext cx="1133856" cy="0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053328" y="3639312"/>
            <a:ext cx="0" cy="1133856"/>
          </a:xfrm>
          <a:prstGeom prst="line">
            <a:avLst/>
          </a:prstGeom>
          <a:noFill/>
          <a:ln w="2032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7205472" y="46451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Wx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907024" y="349300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Wy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040880" y="4069080"/>
            <a:ext cx="749808" cy="0"/>
          </a:xfrm>
          <a:prstGeom prst="line">
            <a:avLst/>
          </a:prstGeom>
          <a:noFill/>
          <a:ln w="20320">
            <a:solidFill>
              <a:srgbClr val="B4233A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040880" y="3319272"/>
            <a:ext cx="0" cy="749808"/>
          </a:xfrm>
          <a:prstGeom prst="line">
            <a:avLst/>
          </a:prstGeom>
          <a:noFill/>
          <a:ln w="20320">
            <a:solidFill>
              <a:srgbClr val="B4233A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7808976" y="3941064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Cx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894576" y="3172968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Cy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687568" y="301752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世界坐标 W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114032" y="30175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相机坐标 C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659368" y="3886200"/>
            <a:ext cx="1188720" cy="0"/>
          </a:xfrm>
          <a:prstGeom prst="line">
            <a:avLst/>
          </a:prstGeom>
          <a:noFill/>
          <a:ln w="22860">
            <a:solidFill>
              <a:srgbClr val="B4233A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9125712" y="3584448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10040112" y="2788920"/>
            <a:ext cx="1207008" cy="2450592"/>
          </a:xfrm>
          <a:prstGeom prst="roundRect">
            <a:avLst>
              <a:gd name="adj" fmla="val 6061"/>
            </a:avLst>
          </a:prstGeom>
          <a:solidFill>
            <a:srgbClr val="FFE2E8"/>
          </a:solidFill>
          <a:ln w="12700">
            <a:solidFill>
              <a:srgbClr val="FF9DA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241280" y="312724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相机空间</a:t>
            </a:r>
            <a:endParaRPr lang="en-US" sz="13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8670" y="4069080"/>
            <a:ext cx="326469" cy="21945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04672" y="5641848"/>
            <a:ext cx="1044244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51560" y="5760720"/>
            <a:ext cx="5285232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相机也有自己的 C2W；为了把世界点表示成相机坐标，View 矩阵必须取逆：</a:t>
            </a:r>
            <a:endParaRPr lang="en-US" sz="116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0381" y="5715000"/>
            <a:ext cx="1741623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B36B00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B36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05 / Projection 直觉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透视投影：把视锥体压到规范立方体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331720"/>
            <a:ext cx="3474720" cy="2651760"/>
          </a:xfrm>
          <a:prstGeom prst="line">
            <a:avLst/>
          </a:prstGeom>
          <a:noFill/>
          <a:ln w="13970">
            <a:solidFill>
              <a:srgbClr val="172033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43000" y="4983480"/>
            <a:ext cx="3474720" cy="137160"/>
          </a:xfrm>
          <a:prstGeom prst="line">
            <a:avLst/>
          </a:prstGeom>
          <a:noFill/>
          <a:ln w="13970">
            <a:solidFill>
              <a:srgbClr val="17203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24912" y="3749040"/>
            <a:ext cx="0" cy="1298448"/>
          </a:xfrm>
          <a:prstGeom prst="line">
            <a:avLst/>
          </a:prstGeom>
          <a:noFill/>
          <a:ln w="12700">
            <a:solidFill>
              <a:srgbClr val="C9D3E2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041648" y="2743200"/>
            <a:ext cx="0" cy="2359152"/>
          </a:xfrm>
          <a:prstGeom prst="line">
            <a:avLst/>
          </a:prstGeom>
          <a:noFill/>
          <a:ln w="12700">
            <a:solidFill>
              <a:srgbClr val="C9D3E2"/>
            </a:solidFill>
            <a:prstDash val="solid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2487168" y="519379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near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86200" y="53583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far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51206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相机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907792"/>
            <a:ext cx="109728" cy="109728"/>
          </a:xfrm>
          <a:prstGeom prst="ellipse">
            <a:avLst/>
          </a:prstGeom>
          <a:solidFill>
            <a:srgbClr val="B4233A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27980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P(x,y,z)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897811" y="1965960"/>
            <a:ext cx="1690777" cy="3108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06440" y="1417320"/>
            <a:ext cx="5230368" cy="1097280"/>
          </a:xfrm>
          <a:prstGeom prst="roundRect">
            <a:avLst>
              <a:gd name="adj" fmla="val 6667"/>
            </a:avLst>
          </a:prstGeom>
          <a:solidFill>
            <a:srgbClr val="FFF0CC"/>
          </a:solidFill>
          <a:ln w="12700">
            <a:solidFill>
              <a:srgbClr val="F5C3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17007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36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核心比例来自相似三角形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26480" y="2011680"/>
            <a:ext cx="418795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离相机越远，投到 near 平面上的 x、y 越小。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06440" y="2926080"/>
            <a:ext cx="52303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869" y="3337560"/>
            <a:ext cx="1409981" cy="6583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17920" y="4251960"/>
            <a:ext cx="41879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手稿里的关键：先让 w'=z，再由透视除法产生 1/z 的缩放。</a:t>
            </a:r>
            <a:endParaRPr lang="en-US" sz="1220" dirty="0"/>
          </a:p>
        </p:txBody>
      </p:sp>
      <p:sp>
        <p:nvSpPr>
          <p:cNvPr id="23" name="Shape 19"/>
          <p:cNvSpPr/>
          <p:nvPr/>
        </p:nvSpPr>
        <p:spPr>
          <a:xfrm>
            <a:off x="5806440" y="5138928"/>
            <a:ext cx="5230368" cy="658368"/>
          </a:xfrm>
          <a:prstGeom prst="roundRect">
            <a:avLst>
              <a:gd name="adj" fmla="val 11111"/>
            </a:avLst>
          </a:prstGeom>
          <a:solidFill>
            <a:srgbClr val="FFE2E8"/>
          </a:solidFill>
          <a:ln w="12700">
            <a:solidFill>
              <a:srgbClr val="FF9DA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44768" y="5367528"/>
            <a:ext cx="437083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注意：不同图形 API 的相机朝向、NDC z 范围和矩阵正负号会不同；这里按手稿的 z 为深度方向讲解。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B4233A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06 / Projection 矩阵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透视矩阵：x、y 归一化，z 也要映射到范围内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89888"/>
            <a:ext cx="3364992" cy="437083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8249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视锥参数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1993392" cy="9692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near: 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far: f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left/right: l, 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bottom/top: b, t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932688" y="3804553"/>
            <a:ext cx="2148840" cy="2730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53712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这些量决定 near 平面的宽高。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1389888"/>
            <a:ext cx="6446520" cy="2240280"/>
          </a:xfrm>
          <a:prstGeom prst="roundRect">
            <a:avLst>
              <a:gd name="adj" fmla="val 3265"/>
            </a:avLst>
          </a:prstGeom>
          <a:solidFill>
            <a:srgbClr val="FFE2E8"/>
          </a:solidFill>
          <a:ln w="12700">
            <a:solidFill>
              <a:srgbClr val="FF9DA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9141" y="1700784"/>
            <a:ext cx="2678381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56048" y="3154680"/>
            <a:ext cx="47091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手稿重点：第 4 行让 w'=z，后续透视除法才会出现 x/z、y/z。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34840" y="4069080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90872" y="434340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x / y 行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90872" y="475488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把 near 平面的矩形区间映射到 NDC 的 [-1, 1]。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45552" y="4069080"/>
            <a:ext cx="30358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01584" y="4343400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z 行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3376" y="4336640"/>
            <a:ext cx="566928" cy="1415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01584" y="4754880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选择 A、B，让 near 和 far 映射到规定深度范围。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07 / Viewport 变换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Viewport：从规范坐标到屏幕像素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389888"/>
            <a:ext cx="477316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9888" y="1965960"/>
            <a:ext cx="1920240" cy="1920240"/>
          </a:xfrm>
          <a:prstGeom prst="rect">
            <a:avLst/>
          </a:prstGeom>
          <a:solidFill>
            <a:srgbClr val="F9FAFB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0008" y="1965960"/>
            <a:ext cx="0" cy="1920240"/>
          </a:xfrm>
          <a:prstGeom prst="line">
            <a:avLst/>
          </a:prstGeom>
          <a:noFill/>
          <a:ln w="12700">
            <a:solidFill>
              <a:srgbClr val="C9D3E2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389888" y="2926080"/>
            <a:ext cx="1920240" cy="0"/>
          </a:xfrm>
          <a:prstGeom prst="line">
            <a:avLst/>
          </a:prstGeom>
          <a:noFill/>
          <a:ln w="12700">
            <a:solidFill>
              <a:srgbClr val="C9D3E2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2011680" y="1645920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NDC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(-1,1)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63240" y="3895344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(1,-1)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84448" y="2926080"/>
            <a:ext cx="868680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98848" y="1847088"/>
            <a:ext cx="594360" cy="2148840"/>
          </a:xfrm>
          <a:prstGeom prst="rect">
            <a:avLst/>
          </a:prstGeom>
          <a:solidFill>
            <a:srgbClr val="D7F4F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816352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屏幕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235717" y="4709160"/>
            <a:ext cx="3197847" cy="25603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989320" y="1389888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D7F4FA"/>
          </a:solidFill>
          <a:ln w="12700">
            <a:solidFill>
              <a:srgbClr val="99E6F2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3295" y="1555750"/>
            <a:ext cx="2296160" cy="110553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989320" y="3310128"/>
            <a:ext cx="5029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D3E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95" y="3383280"/>
            <a:ext cx="1882775" cy="8413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989320" y="4681728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0CC"/>
          </a:solidFill>
          <a:ln w="12700">
            <a:solidFill>
              <a:srgbClr val="F5C36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27648" y="4946904"/>
            <a:ext cx="4315968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B36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如果屏幕坐标 y 轴向下，实际工程里会把 y 的符号或偏移作相应调整。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54864" cy="768096"/>
          </a:xfrm>
          <a:prstGeom prst="rect">
            <a:avLst/>
          </a:prstGeom>
          <a:solidFill>
            <a:srgbClr val="5B43A6"/>
          </a:solidFill>
          <a:ln w="12700">
            <a:solidFill>
              <a:srgbClr val="5B43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08 / MVP + VP 总览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完整流水线：每一步都在回答一个坐标系问题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MVP_VP |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4447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22576"/>
            <a:ext cx="1078992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Local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67128" y="2505456"/>
            <a:ext cx="621792" cy="0"/>
          </a:xfrm>
          <a:prstGeom prst="line">
            <a:avLst/>
          </a:prstGeom>
          <a:noFill/>
          <a:ln w="22860">
            <a:solidFill>
              <a:srgbClr val="5B43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79192" y="2011680"/>
            <a:ext cx="14447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5B4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322576"/>
            <a:ext cx="1078992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World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505456"/>
            <a:ext cx="621792" cy="0"/>
          </a:xfrm>
          <a:prstGeom prst="line">
            <a:avLst/>
          </a:prstGeom>
          <a:noFill/>
          <a:ln w="22860">
            <a:solidFill>
              <a:srgbClr val="B423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73168" y="2011680"/>
            <a:ext cx="14447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42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322576"/>
            <a:ext cx="1078992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Camera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45936" y="2505456"/>
            <a:ext cx="621792" cy="0"/>
          </a:xfrm>
          <a:prstGeom prst="line">
            <a:avLst/>
          </a:prstGeom>
          <a:noFill/>
          <a:ln w="22860">
            <a:solidFill>
              <a:srgbClr val="B36B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76288" y="2011680"/>
            <a:ext cx="14447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2322576"/>
            <a:ext cx="1078992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6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NDC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49056" y="2505456"/>
            <a:ext cx="621792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79408" y="2011680"/>
            <a:ext cx="1444752" cy="987552"/>
          </a:xfrm>
          <a:prstGeom prst="roundRect">
            <a:avLst>
              <a:gd name="adj" fmla="val 7407"/>
            </a:avLst>
          </a:prstGeom>
          <a:solidFill>
            <a:srgbClr val="D7F4F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2322576"/>
            <a:ext cx="1078992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Screen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2176272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43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24528" y="2176272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176272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6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065" y="217627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8992" y="3703320"/>
            <a:ext cx="9921240" cy="932688"/>
          </a:xfrm>
          <a:prstGeom prst="roundRect">
            <a:avLst>
              <a:gd name="adj" fmla="val 7843"/>
            </a:avLst>
          </a:prstGeom>
          <a:solidFill>
            <a:srgbClr val="ECE8FF"/>
          </a:solidFill>
          <a:ln w="12700">
            <a:solidFill>
              <a:srgbClr val="C6B8FF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2762874" y="4005072"/>
            <a:ext cx="4733821" cy="31089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078992" y="5166360"/>
            <a:ext cx="2157984" cy="621792"/>
          </a:xfrm>
          <a:prstGeom prst="roundRect">
            <a:avLst>
              <a:gd name="adj" fmla="val 11765"/>
            </a:avLst>
          </a:prstGeom>
          <a:solidFill>
            <a:srgbClr val="DDF8E8"/>
          </a:solidFill>
          <a:ln w="12700">
            <a:solidFill>
              <a:srgbClr val="A7E8C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25880" y="5394960"/>
            <a:ext cx="16642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580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M：物体如何放进世界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3529584" y="5166360"/>
            <a:ext cx="2157984" cy="621792"/>
          </a:xfrm>
          <a:prstGeom prst="roundRect">
            <a:avLst>
              <a:gd name="adj" fmla="val 11765"/>
            </a:avLst>
          </a:prstGeom>
          <a:solidFill>
            <a:srgbClr val="FFE2E8"/>
          </a:solidFill>
          <a:ln w="12700">
            <a:solidFill>
              <a:srgbClr val="FF9DA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30752" y="5394960"/>
            <a:ext cx="175564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B423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V：世界如何被相机看见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5989320" y="5166360"/>
            <a:ext cx="2157984" cy="621792"/>
          </a:xfrm>
          <a:prstGeom prst="roundRect">
            <a:avLst>
              <a:gd name="adj" fmla="val 11765"/>
            </a:avLst>
          </a:prstGeom>
          <a:solidFill>
            <a:srgbClr val="FFF0CC"/>
          </a:solidFill>
          <a:ln w="12700">
            <a:solidFill>
              <a:srgbClr val="F5C3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36208" y="5394960"/>
            <a:ext cx="1664208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B36B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P：视锥如何压成盒子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8439912" y="5166360"/>
            <a:ext cx="2157984" cy="621792"/>
          </a:xfrm>
          <a:prstGeom prst="roundRect">
            <a:avLst>
              <a:gd name="adj" fmla="val 11765"/>
            </a:avLst>
          </a:prstGeom>
          <a:solidFill>
            <a:srgbClr val="D7F4FA"/>
          </a:solidFill>
          <a:ln w="12700">
            <a:solidFill>
              <a:srgbClr val="99E6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50224" y="539496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VP：盒子如何落到屏幕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217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DA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总结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3232" y="1024128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把矩阵看成坐标系说明书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07692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44752" y="2084832"/>
            <a:ext cx="521208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描述新坐标轴在旧坐标系中的方向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2670048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76606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44752" y="2743200"/>
            <a:ext cx="521208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描述新原点在旧坐标系中的位置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328416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42442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44752" y="3401568"/>
            <a:ext cx="521208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相机坐标系 C2W 的逆变换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3986784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082796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44752" y="4059936"/>
            <a:ext cx="521208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用 w'=z 和透视除法制造近大远小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" y="464515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74116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44752" y="4718304"/>
            <a:ext cx="521208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把 NDC 的 [-1,1] 映射到屏幕像素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95160" y="1865376"/>
            <a:ext cx="3858768" cy="2450592"/>
          </a:xfrm>
          <a:prstGeom prst="roundRect">
            <a:avLst>
              <a:gd name="adj" fmla="val 29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388352" y="2332608"/>
            <a:ext cx="3017520" cy="3274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06640" y="312724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DAD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记忆方式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06640" y="352958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4DEE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局部 -&gt; 世界 -&gt; 相机 -&gt; 投影 -&gt; 屏幕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06640" y="3877056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DE6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坐标系清楚，矩阵就清楚。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1512</Words>
  <Application>WPS 演示</Application>
  <PresentationFormat>On-screen Show (16:9)</PresentationFormat>
  <Paragraphs>273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Microsoft YaHei</vt:lpstr>
      <vt:lpstr>Microsoft YaHei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计算机图形学中的 MVP 与 Viewport 变换</dc:title>
  <dc:creator>Codex</dc:creator>
  <dc:subject>MVP and viewport transforms</dc:subject>
  <cp:lastModifiedBy>sil</cp:lastModifiedBy>
  <cp:revision>5</cp:revision>
  <dcterms:created xsi:type="dcterms:W3CDTF">2026-04-18T06:49:10Z</dcterms:created>
  <dcterms:modified xsi:type="dcterms:W3CDTF">2026-04-18T06:49:10Z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9C213DA50567F81E2529E3698F443F1A_42</vt:lpwstr>
  </property>
  <property fmtid="{D5CDD505-2E9C-101B-9397-08002B2CF9AE}" pid="3" name="KSOProductBuildVer">
    <vt:lpwstr>2052-12.1.2.25882</vt:lpwstr>
  </property>
</Properties>
</file>